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Algerian" panose="04020705040A02060702" pitchFamily="82" charset="0"/>
      <p:regular r:id="rId27"/>
    </p:embeddedFont>
    <p:embeddedFont>
      <p:font typeface="Narkisim" panose="020E0502050101010101" pitchFamily="34" charset="-79"/>
      <p:regular r:id="rId28"/>
    </p:embeddedFont>
    <p:embeddedFont>
      <p:font typeface="Play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9YsIv/nK1p/ZuYDoxN4eRdXFx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7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62675" y="1592050"/>
            <a:ext cx="10507200" cy="21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 b="1" dirty="0">
                <a:latin typeface="Narkisim"/>
                <a:ea typeface="Narkisim"/>
                <a:cs typeface="Narkisim"/>
                <a:sym typeface="Narkisim"/>
              </a:rPr>
              <a:t>Smart Irrigation System for Sustainable Water </a:t>
            </a:r>
            <a:r>
              <a:rPr lang="en-IN" b="1">
                <a:latin typeface="Narkisim"/>
                <a:ea typeface="Narkisim"/>
                <a:cs typeface="Narkisim"/>
                <a:sym typeface="Narkisim"/>
              </a:rPr>
              <a:t>Management </a:t>
            </a:r>
            <a:endParaRPr b="1">
              <a:latin typeface="Narkisim"/>
              <a:ea typeface="Narkisim"/>
              <a:cs typeface="Narkisim"/>
              <a:sym typeface="Narkisim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8077200" y="4343400"/>
            <a:ext cx="3733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highlight>
                <a:schemeClr val="lt1"/>
              </a:highlight>
              <a:latin typeface="Narkisim"/>
              <a:ea typeface="Narkisim"/>
              <a:cs typeface="Narkisim"/>
              <a:sym typeface="Narkisim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highlight>
                  <a:schemeClr val="lt1"/>
                </a:highlight>
                <a:latin typeface="Narkisim"/>
                <a:ea typeface="Narkisim"/>
                <a:cs typeface="Narkisim"/>
                <a:sym typeface="Narkisim"/>
              </a:rPr>
              <a:t>Student group details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lt1"/>
                </a:solidFill>
                <a:latin typeface="Narkisim"/>
                <a:ea typeface="Narkisim"/>
                <a:cs typeface="Narkisim"/>
                <a:sym typeface="Narkisim"/>
              </a:rPr>
              <a:t>Deekshith.K.S.(AMB2052)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lt1"/>
                </a:solidFill>
                <a:latin typeface="Narkisim"/>
                <a:ea typeface="Narkisim"/>
                <a:cs typeface="Narkisim"/>
                <a:sym typeface="Narkisim"/>
              </a:rPr>
              <a:t>Nikhil Kumar.K.N(AMB2155)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lt1"/>
                </a:solidFill>
                <a:latin typeface="Narkisim"/>
                <a:ea typeface="Narkisim"/>
                <a:cs typeface="Narkisim"/>
                <a:sym typeface="Narkisim"/>
              </a:rPr>
              <a:t>Pavan.M. (AMB2167)</a:t>
            </a:r>
            <a:endParaRPr>
              <a:solidFill>
                <a:schemeClr val="lt1"/>
              </a:solidFill>
              <a:latin typeface="Narkisim"/>
              <a:ea typeface="Narkisim"/>
              <a:cs typeface="Narkisim"/>
              <a:sym typeface="Narkisim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0" y="609600"/>
            <a:ext cx="1134650" cy="7683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28600" y="212113"/>
            <a:ext cx="116586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Algerian"/>
              <a:buNone/>
            </a:pPr>
            <a:r>
              <a:rPr lang="en-IN" sz="2400" b="1" i="0" u="none" strike="noStrike" cap="none">
                <a:solidFill>
                  <a:srgbClr val="1F4E79"/>
                </a:solidFill>
                <a:highlight>
                  <a:schemeClr val="lt1"/>
                </a:highlight>
                <a:latin typeface="Algerian"/>
                <a:ea typeface="Algerian"/>
                <a:cs typeface="Algerian"/>
                <a:sym typeface="Algerian"/>
              </a:rPr>
              <a:t>UNIVERSITY OF AGRICULTURAL SCIENCES ,COLLEGE OF AGRICULTURE,</a:t>
            </a:r>
            <a:endParaRPr sz="500" b="1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1F4E79"/>
              </a:buClr>
              <a:buSzPts val="2800"/>
              <a:buFont typeface="Algerian"/>
              <a:buNone/>
            </a:pPr>
            <a:r>
              <a:rPr lang="en-IN" sz="2400" b="1" i="0" u="none" strike="noStrike" cap="none">
                <a:solidFill>
                  <a:srgbClr val="1F4E79"/>
                </a:solidFill>
                <a:highlight>
                  <a:schemeClr val="lt1"/>
                </a:highlight>
                <a:latin typeface="Algerian"/>
                <a:ea typeface="Algerian"/>
                <a:cs typeface="Algerian"/>
                <a:sym typeface="Algerian"/>
              </a:rPr>
              <a:t>GKVK, BANGLORE</a:t>
            </a:r>
            <a:endParaRPr sz="5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1"/>
          </p:nvPr>
        </p:nvSpPr>
        <p:spPr>
          <a:xfrm>
            <a:off x="838200" y="1143000"/>
            <a:ext cx="5181600" cy="503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74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</a:pPr>
            <a:r>
              <a:rPr lang="en-IN" sz="3300">
                <a:latin typeface="Times New Roman"/>
                <a:ea typeface="Times New Roman"/>
                <a:cs typeface="Times New Roman"/>
                <a:sym typeface="Times New Roman"/>
              </a:rPr>
              <a:t>Methodlogy/approach</a:t>
            </a:r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2"/>
          </p:nvPr>
        </p:nvSpPr>
        <p:spPr>
          <a:xfrm>
            <a:off x="5943600" y="990600"/>
            <a:ext cx="58674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Tools and Technologies Used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Discussion / Analysis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 sz="32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References/Acknowledgements</a:t>
            </a:r>
            <a:endParaRPr/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solidFill>
                  <a:srgbClr val="D86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solidFill>
                <a:srgbClr val="D86CCC"/>
              </a:solidFill>
            </a:endParaRPr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Agriculture is a major sector that depends heavily on water for crop production and sustainability.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Traditional irrigation methods are mostly manual and based on experience or fixed schedules.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These methods often lead to over-irrigation (water wastage) or under-irrigation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There is a growing need for efficient and sustainable irrigation systems to optimize water usage.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 b="1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Farming Problem Area</a:t>
            </a:r>
            <a:endParaRPr b="1">
              <a:solidFill>
                <a:srgbClr val="0F4861"/>
              </a:solidFill>
            </a:endParaRPr>
          </a:p>
        </p:txBody>
      </p:sp>
      <p:sp>
        <p:nvSpPr>
          <p:cNvPr id="106" name="Google Shape;106;p4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6747300" cy="4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Inefficient water usage is one of the biggest problems in agriculture.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Farmers often do not have accurate data to decide how much water is needed.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Soil conditions, temperature, humidity, and rainfall are not properly analyzed in traditional systems.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19808"/>
          <a:stretch/>
        </p:blipFill>
        <p:spPr>
          <a:xfrm>
            <a:off x="7924800" y="1752600"/>
            <a:ext cx="3409950" cy="21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 rotWithShape="1">
          <a:blip r:embed="rId4">
            <a:alphaModFix/>
          </a:blip>
          <a:srcRect r="29706" b="14097"/>
          <a:stretch/>
        </p:blipFill>
        <p:spPr>
          <a:xfrm>
            <a:off x="7696200" y="4038600"/>
            <a:ext cx="3714750" cy="246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/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1272301" y="16907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Traditional irrigation systems are:</a:t>
            </a:r>
            <a:endParaRPr/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/>
              <a:t>Manual and time-consuming</a:t>
            </a:r>
            <a:endParaRPr/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/>
              <a:t>Based on guesswork</a:t>
            </a:r>
            <a:endParaRPr/>
          </a:p>
          <a:p>
            <a:pPr marL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IN"/>
              <a:t>Often lead to over-irrigation or under-irrigation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/>
              <a:t>Problem:- </a:t>
            </a:r>
            <a:r>
              <a:rPr lang="en-IN"/>
              <a:t>There is no accurate system to predict the exact water requirement for crops, leading to water wastage and reduced yield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1"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3725" y="1261873"/>
            <a:ext cx="2889475" cy="2167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9950" y="1261875"/>
            <a:ext cx="3267500" cy="21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1676400" y="4312000"/>
            <a:ext cx="10515600" cy="19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Agriculture consumes over 70% of the world's freshwater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Data-driven methods</a:t>
            </a:r>
            <a:r>
              <a:rPr lang="en-I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help in making accurate and scientific farming decisions.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5">
            <a:alphaModFix/>
          </a:blip>
          <a:srcRect t="9346"/>
          <a:stretch/>
        </p:blipFill>
        <p:spPr>
          <a:xfrm>
            <a:off x="3203725" y="1261875"/>
            <a:ext cx="6723727" cy="300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t="20051"/>
          <a:stretch/>
        </p:blipFill>
        <p:spPr>
          <a:xfrm>
            <a:off x="1106250" y="1690825"/>
            <a:ext cx="10335174" cy="412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sz="4700" b="1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700" b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838201" y="1690700"/>
            <a:ext cx="8673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/>
              <a:t>The dataset includes environmental and soil parameters such as: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Soil Temperature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Humidity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Soil Moisture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Rainfall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AutoNum type="arabicPeriod"/>
            </a:pPr>
            <a:r>
              <a:rPr lang="en-IN" b="1"/>
              <a:t>Irrigation requirement </a:t>
            </a:r>
            <a:r>
              <a:rPr lang="en-IN"/>
              <a:t>(target variable)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9498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/>
              <a:t>Target output: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 b="1">
                <a:solidFill>
                  <a:srgbClr val="43AFE2"/>
                </a:solidFill>
              </a:rPr>
              <a:t>Water required (liters)</a:t>
            </a:r>
            <a:endParaRPr b="1">
              <a:solidFill>
                <a:srgbClr val="43AFE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/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 l="5375"/>
          <a:stretch/>
        </p:blipFill>
        <p:spPr>
          <a:xfrm>
            <a:off x="970975" y="1296805"/>
            <a:ext cx="10250049" cy="48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0A52F8-9F9E-A4F1-B380-17BC00AD6325}"/>
              </a:ext>
            </a:extLst>
          </p:cNvPr>
          <p:cNvSpPr txBox="1"/>
          <p:nvPr/>
        </p:nvSpPr>
        <p:spPr>
          <a:xfrm>
            <a:off x="8792308" y="6513342"/>
            <a:ext cx="3193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Source:AICRP</a:t>
            </a:r>
            <a:r>
              <a:rPr lang="en-IN" dirty="0"/>
              <a:t> on Agrometrology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rgbClr val="0F48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/ Approach</a:t>
            </a:r>
            <a:endParaRPr b="1">
              <a:solidFill>
                <a:srgbClr val="0F4861"/>
              </a:solidFill>
            </a:endParaRPr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724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64135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IN" sz="2100"/>
              <a:t> Start</a:t>
            </a:r>
            <a:br>
              <a:rPr lang="en-IN" sz="2100"/>
            </a:br>
            <a:r>
              <a:rPr lang="en-IN" sz="2100"/>
              <a:t>│</a:t>
            </a:r>
            <a:br>
              <a:rPr lang="en-IN" sz="2100"/>
            </a:br>
            <a:r>
              <a:rPr lang="en-IN" sz="2100"/>
              <a:t>▼</a:t>
            </a:r>
            <a:br>
              <a:rPr lang="en-IN" sz="2100"/>
            </a:br>
            <a:r>
              <a:rPr lang="en-IN" sz="2100"/>
              <a:t>  Data Collection (Sensors/Dataset)</a:t>
            </a:r>
            <a:br>
              <a:rPr lang="en-IN" sz="2100"/>
            </a:br>
            <a:r>
              <a:rPr lang="en-IN" sz="2100"/>
              <a:t> │</a:t>
            </a:r>
            <a:br>
              <a:rPr lang="en-IN" sz="2100"/>
            </a:br>
            <a:r>
              <a:rPr lang="en-IN" sz="2100"/>
              <a:t> ▼</a:t>
            </a:r>
            <a:br>
              <a:rPr lang="en-IN" sz="2100"/>
            </a:br>
            <a:r>
              <a:rPr lang="en-IN" sz="2100"/>
              <a:t>   Data Preprocessing</a:t>
            </a:r>
            <a:br>
              <a:rPr lang="en-IN" sz="2100"/>
            </a:br>
            <a:r>
              <a:rPr lang="en-IN" sz="2100"/>
              <a:t> (Cleaning, Normalization)</a:t>
            </a:r>
            <a:br>
              <a:rPr lang="en-IN" sz="2100"/>
            </a:br>
            <a:r>
              <a:rPr lang="en-IN" sz="2100"/>
              <a:t> │</a:t>
            </a:r>
            <a:br>
              <a:rPr lang="en-IN" sz="2100"/>
            </a:br>
            <a:r>
              <a:rPr lang="en-IN" sz="2100"/>
              <a:t> ▼</a:t>
            </a:r>
            <a:br>
              <a:rPr lang="en-IN" sz="2100"/>
            </a:br>
            <a:r>
              <a:rPr lang="en-IN" sz="2100"/>
              <a:t>    Feature Selection</a:t>
            </a:r>
            <a:br>
              <a:rPr lang="en-IN" sz="2100"/>
            </a:br>
            <a:r>
              <a:rPr lang="en-IN" sz="2100"/>
              <a:t>  │</a:t>
            </a:r>
            <a:br>
              <a:rPr lang="en-IN" sz="2100"/>
            </a:br>
            <a:r>
              <a:rPr lang="en-IN" sz="2100"/>
              <a:t>  ▼</a:t>
            </a:r>
            <a:br>
              <a:rPr lang="en-IN" sz="2100"/>
            </a:br>
            <a:r>
              <a:rPr lang="en-IN" sz="2100"/>
              <a:t>   Train-Test Splitting</a:t>
            </a:r>
            <a:br>
              <a:rPr lang="en-IN" sz="2100"/>
            </a:br>
            <a:r>
              <a:rPr lang="en-IN" sz="2100"/>
              <a:t>  │</a:t>
            </a:r>
            <a:br>
              <a:rPr lang="en-IN" sz="2100"/>
            </a:br>
            <a:r>
              <a:rPr lang="en-IN" sz="2100"/>
              <a:t>  ▼</a:t>
            </a:r>
            <a:br>
              <a:rPr lang="en-IN"/>
            </a:br>
            <a:r>
              <a:rPr lang="en-IN"/>
              <a:t> </a:t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5791200" y="1564243"/>
            <a:ext cx="5105400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Model Selection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(Regression Models)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Model Training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Model Testing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(MSE, RMSE, R²)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Prediction of Irrigation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Automatic Water Control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│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▼</a:t>
            </a:r>
            <a:b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End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 Used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54" name="Google Shape;15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Libraries Used: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Example - </a:t>
            </a:r>
            <a:r>
              <a:rPr lang="en-IN" sz="2800" b="1">
                <a:latin typeface="Times New Roman"/>
                <a:ea typeface="Times New Roman"/>
                <a:cs typeface="Times New Roman"/>
                <a:sym typeface="Times New Roman"/>
              </a:rPr>
              <a:t>scikit-learn, pandas, numpy, matplotlib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Development Environment: </a:t>
            </a: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Google Colab </a:t>
            </a:r>
            <a:endParaRPr b="1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75" y="3944013"/>
            <a:ext cx="667702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325" y="1328775"/>
            <a:ext cx="4276700" cy="108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solidFill>
                  <a:srgbClr val="0B769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>
              <a:solidFill>
                <a:srgbClr val="0B769F"/>
              </a:solidFill>
            </a:endParaRPr>
          </a:p>
        </p:txBody>
      </p:sp>
      <p:sp>
        <p:nvSpPr>
          <p:cNvPr id="162" name="Google Shape;162;p12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Model performance metrics :-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1">
              <a:solidFill>
                <a:srgbClr val="C00000"/>
              </a:solidFill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1981200"/>
            <a:ext cx="84582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12501B"/>
                </a:solidFill>
              </a:rPr>
              <a:t>Visualizations:</a:t>
            </a:r>
            <a:endParaRPr b="1">
              <a:solidFill>
                <a:srgbClr val="12501B"/>
              </a:solidFill>
            </a:endParaRPr>
          </a:p>
        </p:txBody>
      </p:sp>
      <p:sp>
        <p:nvSpPr>
          <p:cNvPr id="169" name="Google Shape;16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MAE comparison of models</a:t>
            </a:r>
            <a:endParaRPr/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514600"/>
            <a:ext cx="4695160" cy="3768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2667000"/>
            <a:ext cx="4629150" cy="362989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 txBox="1"/>
          <p:nvPr/>
        </p:nvSpPr>
        <p:spPr>
          <a:xfrm>
            <a:off x="6781800" y="1981200"/>
            <a:ext cx="41729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RSME comparison of models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>
            <a:spLocks noGrp="1"/>
          </p:cNvSpPr>
          <p:nvPr>
            <p:ph type="title"/>
          </p:nvPr>
        </p:nvSpPr>
        <p:spPr>
          <a:xfrm>
            <a:off x="6934200" y="1676400"/>
            <a:ext cx="41910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000"/>
              <a:t>Accuracy comparison of models</a:t>
            </a:r>
            <a:endParaRPr sz="2000"/>
          </a:p>
        </p:txBody>
      </p:sp>
      <p:sp>
        <p:nvSpPr>
          <p:cNvPr id="178" name="Google Shape;178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000"/>
              <a:t>3 R2 SCORE comparison of models</a:t>
            </a:r>
            <a:endParaRPr sz="2000"/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514600"/>
            <a:ext cx="4486275" cy="326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2590800"/>
            <a:ext cx="4695824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>
            <a:spLocks noGrp="1"/>
          </p:cNvSpPr>
          <p:nvPr>
            <p:ph type="title"/>
          </p:nvPr>
        </p:nvSpPr>
        <p:spPr>
          <a:xfrm>
            <a:off x="6400800" y="1524000"/>
            <a:ext cx="5257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r>
              <a:rPr lang="en-IN" sz="2400"/>
              <a:t>comparison of models after hypertuning</a:t>
            </a:r>
            <a:endParaRPr sz="2400"/>
          </a:p>
        </p:txBody>
      </p:sp>
      <p:sp>
        <p:nvSpPr>
          <p:cNvPr id="186" name="Google Shape;186;p15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10515600" cy="450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 comparison of models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/>
          </a:p>
        </p:txBody>
      </p:sp>
      <p:pic>
        <p:nvPicPr>
          <p:cNvPr id="187" name="Google Shape;18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819400"/>
            <a:ext cx="4399972" cy="300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2743200"/>
            <a:ext cx="4582164" cy="3810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chemeClr val="accent5"/>
                </a:solidFill>
              </a:rPr>
              <a:t>Observations: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94" name="Google Shape;19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The regression model successfully predicts </a:t>
            </a:r>
            <a:r>
              <a:rPr lang="en-IN" b="1"/>
              <a:t>water requirements.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Water usage reduced compared to traditional irrigation.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Improved crop health due to optimized watering.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Accuracy depends on </a:t>
            </a:r>
            <a:r>
              <a:rPr lang="en-IN" b="1"/>
              <a:t>quality and quantity of training data.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 b="1">
                <a:latin typeface="Times New Roman"/>
                <a:ea typeface="Times New Roman"/>
                <a:cs typeface="Times New Roman"/>
                <a:sym typeface="Times New Roman"/>
              </a:rPr>
              <a:t>Discussion / Analysis</a:t>
            </a:r>
            <a:endParaRPr b="1"/>
          </a:p>
        </p:txBody>
      </p:sp>
      <p:sp>
        <p:nvSpPr>
          <p:cNvPr id="200" name="Google Shape;20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Linear Regression best:</a:t>
            </a:r>
            <a:r>
              <a:rPr lang="en-IN"/>
              <a:t> lowest errors, </a:t>
            </a:r>
            <a:r>
              <a:rPr lang="en-IN">
                <a:solidFill>
                  <a:schemeClr val="accent5"/>
                </a:solidFill>
              </a:rPr>
              <a:t>highest R² (0.960) and accuracy (0.94).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Random Forest good:</a:t>
            </a:r>
            <a:r>
              <a:rPr lang="en-IN"/>
              <a:t> strong performance, slightly below Linear Regression.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ANN moderate:</a:t>
            </a:r>
            <a:r>
              <a:rPr lang="en-IN"/>
              <a:t> needs more tuning/data.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Decision Tree &amp; SVR weak:</a:t>
            </a:r>
            <a:r>
              <a:rPr lang="en-IN"/>
              <a:t> higher errors, less reliable.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FF0000"/>
                </a:solidFill>
              </a:rPr>
              <a:t>Limitations: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06" name="Google Shape;20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Requires reliable sensor data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Initial setup cost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Model accuracy depends on dataset quality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Internet dependency (if cloud-based)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207" name="Google Shape;207;p18"/>
          <p:cNvPicPr preferRelativeResize="0"/>
          <p:nvPr/>
        </p:nvPicPr>
        <p:blipFill rotWithShape="1">
          <a:blip r:embed="rId3">
            <a:alphaModFix/>
          </a:blip>
          <a:srcRect t="10060" b="-10060"/>
          <a:stretch/>
        </p:blipFill>
        <p:spPr>
          <a:xfrm>
            <a:off x="8516700" y="-362619"/>
            <a:ext cx="3097000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5"/>
              <a:buNone/>
            </a:pPr>
            <a:r>
              <a:rPr lang="en-IN" b="1">
                <a:solidFill>
                  <a:srgbClr val="BF4F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results could impact agricultural decision-making?</a:t>
            </a:r>
            <a:br>
              <a:rPr lang="en-IN" b="1">
                <a:solidFill>
                  <a:srgbClr val="BF4F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solidFill>
                <a:srgbClr val="BF4F14"/>
              </a:solidFill>
            </a:endParaRPr>
          </a:p>
        </p:txBody>
      </p:sp>
      <p:sp>
        <p:nvSpPr>
          <p:cNvPr id="213" name="Google Shape;21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Improved </a:t>
            </a:r>
            <a:r>
              <a:rPr lang="en-IN" b="1"/>
              <a:t>irrigation planning </a:t>
            </a:r>
            <a:r>
              <a:rPr lang="en-IN"/>
              <a:t>(right amount of water)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 Efficient </a:t>
            </a:r>
            <a:r>
              <a:rPr lang="en-IN" b="1"/>
              <a:t>water resource utilization 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Reduced </a:t>
            </a:r>
            <a:r>
              <a:rPr lang="en-IN" b="1"/>
              <a:t>operational costs </a:t>
            </a:r>
            <a:r>
              <a:rPr lang="en-IN"/>
              <a:t>(energy, labor)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Enhanced crop yield and plant health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 Simpler and reliable model selection </a:t>
            </a:r>
            <a:r>
              <a:rPr lang="en-IN"/>
              <a:t>(Linear Regression) Supports real-time, data-driven irrigation decisions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0B769F"/>
                </a:solidFill>
              </a:rPr>
              <a:t>Future Scope</a:t>
            </a:r>
            <a:endParaRPr b="1">
              <a:solidFill>
                <a:srgbClr val="0B769F"/>
              </a:solidFill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Integration with </a:t>
            </a:r>
            <a:r>
              <a:rPr lang="en-IN" b="1"/>
              <a:t>weather forecasting APIs</a:t>
            </a:r>
            <a:endParaRPr b="1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Use of advanced ML models (</a:t>
            </a:r>
            <a:r>
              <a:rPr lang="en-IN" b="1"/>
              <a:t>Random Forest, Neural Networks</a:t>
            </a:r>
            <a:r>
              <a:rPr lang="en-IN"/>
              <a:t>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b="1"/>
              <a:t>Mobile app </a:t>
            </a:r>
            <a:r>
              <a:rPr lang="en-IN"/>
              <a:t>for monitoring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Solar-powered irrigation </a:t>
            </a:r>
            <a:r>
              <a:rPr lang="en-IN"/>
              <a:t>system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4892DC"/>
                </a:solidFill>
              </a:rPr>
              <a:t>Practical Application </a:t>
            </a:r>
            <a:endParaRPr b="1">
              <a:solidFill>
                <a:srgbClr val="4892DC"/>
              </a:solidFill>
            </a:endParaRPr>
          </a:p>
        </p:txBody>
      </p:sp>
      <p:sp>
        <p:nvSpPr>
          <p:cNvPr id="225" name="Google Shape;22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Smart irrigation </a:t>
            </a:r>
            <a:r>
              <a:rPr lang="en-IN"/>
              <a:t>scheduling using predicted water requirements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Integration with sensors</a:t>
            </a:r>
            <a:r>
              <a:rPr lang="en-IN"/>
              <a:t> (soil moisture, temperature) for automated systems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Use in </a:t>
            </a:r>
            <a:r>
              <a:rPr lang="en-IN" b="1"/>
              <a:t>precision agriculture </a:t>
            </a:r>
            <a:r>
              <a:rPr lang="en-IN"/>
              <a:t>for field-specific irrigation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Mobile/web-based decision </a:t>
            </a:r>
            <a:r>
              <a:rPr lang="en-IN"/>
              <a:t>support tools for farmers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b="1"/>
              <a:t>Optimization of water</a:t>
            </a:r>
            <a:r>
              <a:rPr lang="en-IN"/>
              <a:t> use in drip and sprinkler systems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Support for </a:t>
            </a:r>
            <a:r>
              <a:rPr lang="en-IN" b="1"/>
              <a:t>sustainable farming</a:t>
            </a:r>
            <a:r>
              <a:rPr lang="en-IN"/>
              <a:t> and resource management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3A7D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solidFill>
                <a:srgbClr val="3A7D22"/>
              </a:solidFill>
            </a:endParaRPr>
          </a:p>
        </p:txBody>
      </p:sp>
      <p:sp>
        <p:nvSpPr>
          <p:cNvPr id="231" name="Google Shape;23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Data-driven system optimizes irrigation using soil and environmental parameters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Accurately predicts water requirements, reducing wastage and improving yield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 Linear Regression performed best, indicating a strong linear relationship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Enables automation with minimal human intervention and real-time decisions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 Cost-effective solution supporting sustainable and efficient agriculture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237" name="Google Shape;237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Ahansal, Y., Bouziani, M., Yaagoubi, R., Sebari, I., &amp; Kenny, L. (2022).</a:t>
            </a:r>
            <a:br>
              <a:rPr lang="en-IN"/>
            </a:br>
            <a:r>
              <a:rPr lang="en-IN" i="1"/>
              <a:t>Towards Smart Irrigation: A Literature Review on the Use of Geospatial Technologies and Machine Learning.</a:t>
            </a:r>
            <a:br>
              <a:rPr lang="en-IN"/>
            </a:br>
            <a:r>
              <a:rPr lang="en-IN"/>
              <a:t>Journal: Agronomy, 12(2), 297.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Tace, Y., Tabaa, M., El Filali, S., &amp; Cherkaoui, L. (2022).</a:t>
            </a:r>
            <a:br>
              <a:rPr lang="en-IN"/>
            </a:br>
            <a:r>
              <a:rPr lang="en-IN" i="1"/>
              <a:t>Smart Irrigation System Based on IoT and Machine Learning.</a:t>
            </a:r>
            <a:br>
              <a:rPr lang="en-IN"/>
            </a:br>
            <a:r>
              <a:rPr lang="en-IN"/>
              <a:t>Journal: Energy Reports.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Roy, U. B. P., Sattar, K. N. A., &amp; Elngar, A. A. (2025).</a:t>
            </a:r>
            <a:br>
              <a:rPr lang="en-IN"/>
            </a:br>
            <a:r>
              <a:rPr lang="en-IN" i="1"/>
              <a:t>A Smart Irrigation System Using IoT and Advanced Machine Learning Model.</a:t>
            </a:r>
            <a:br>
              <a:rPr lang="en-IN"/>
            </a:br>
            <a:r>
              <a:rPr lang="en-IN"/>
              <a:t>Journal: Journal of Smart Internet of Things.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Abiadi, Y., Elamrani Abou Elassad, Z., El Meslouhi, O., &amp; Ed-dahbi, A. M. (2023).</a:t>
            </a:r>
            <a:br>
              <a:rPr lang="en-IN"/>
            </a:br>
            <a:r>
              <a:rPr lang="en-IN" i="1"/>
              <a:t>Application of Machine Learning Techniques for Smart Irrigation Systems: A Systematic Review.</a:t>
            </a:r>
            <a:br>
              <a:rPr lang="en-IN"/>
            </a:br>
            <a:r>
              <a:rPr lang="en-IN"/>
              <a:t>Journal: SSRN / Smart Agricultural Technology.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Char char="•"/>
            </a:pPr>
            <a:r>
              <a:rPr lang="en-IN"/>
              <a:t>Jaiswal, N., Kumar, T. V., &amp; Shukla, C. (2025).</a:t>
            </a:r>
            <a:br>
              <a:rPr lang="en-IN"/>
            </a:br>
            <a:r>
              <a:rPr lang="en-IN" i="1"/>
              <a:t>Smart Drip Irrigation Systems Using IoT: Review of Architectures and Machine Learning Models.</a:t>
            </a:r>
            <a:br>
              <a:rPr lang="en-IN"/>
            </a:br>
            <a:r>
              <a:rPr lang="en-IN"/>
              <a:t>Journal: Discover Agriculture (Springer). 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243" name="Google Shape;2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988</Words>
  <Application>Microsoft Office PowerPoint</Application>
  <PresentationFormat>Widescreen</PresentationFormat>
  <Paragraphs>125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Play</vt:lpstr>
      <vt:lpstr>Noto Sans Symbols</vt:lpstr>
      <vt:lpstr>Algerian</vt:lpstr>
      <vt:lpstr>Narkisim</vt:lpstr>
      <vt:lpstr>Times New Roman</vt:lpstr>
      <vt:lpstr>Office Theme</vt:lpstr>
      <vt:lpstr>Smart Irrigation System for Sustainable Water Management </vt:lpstr>
      <vt:lpstr>Content</vt:lpstr>
      <vt:lpstr>Introduction</vt:lpstr>
      <vt:lpstr>Farming Problem Area</vt:lpstr>
      <vt:lpstr>Problem Statement</vt:lpstr>
      <vt:lpstr>Motivation</vt:lpstr>
      <vt:lpstr>Objectives</vt:lpstr>
      <vt:lpstr>Dataset Overview</vt:lpstr>
      <vt:lpstr>Dataset</vt:lpstr>
      <vt:lpstr>Methodology / Approach</vt:lpstr>
      <vt:lpstr>Tools and Technologies Used</vt:lpstr>
      <vt:lpstr>Results</vt:lpstr>
      <vt:lpstr>Visualizations:</vt:lpstr>
      <vt:lpstr>Accuracy comparison of models</vt:lpstr>
      <vt:lpstr>comparison of models after hypertuning</vt:lpstr>
      <vt:lpstr>Observations:</vt:lpstr>
      <vt:lpstr>Discussion / Analysis</vt:lpstr>
      <vt:lpstr>Limitations:</vt:lpstr>
      <vt:lpstr>How results could impact agricultural decision-making? </vt:lpstr>
      <vt:lpstr>Future Scope</vt:lpstr>
      <vt:lpstr>Practical Application 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srinivas A</cp:lastModifiedBy>
  <cp:revision>3</cp:revision>
  <dcterms:modified xsi:type="dcterms:W3CDTF">2026-04-16T05:12:08Z</dcterms:modified>
</cp:coreProperties>
</file>